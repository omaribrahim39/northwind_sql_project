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11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4494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NORTHWIND ANALYTICS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SQL Server to Visual Insight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7490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16-question deep dive into the Northwind database — pairing every real SQL Server result with its Python visualization.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55040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Analytics Case Study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60350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  •   PYTHON   •   PANDAS   •   MATPLOTLIB / SEABORN</a:t>
            </a: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5EEDC8-6EC3-01DA-D737-4BBDA20C6430}"/>
              </a:ext>
            </a:extLst>
          </p:cNvPr>
          <p:cNvSpPr txBox="1"/>
          <p:nvPr/>
        </p:nvSpPr>
        <p:spPr>
          <a:xfrm>
            <a:off x="890546" y="5136696"/>
            <a:ext cx="49536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Eng. Omar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Ibrahim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78545F0-8FBD-14CA-4B48-9F3A06C9B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39" y="5621373"/>
            <a:ext cx="2262149" cy="10933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PROJECT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Visual Story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slide in this deck shows the full trail: the T-SQL query, its real output straight from SQL Server Management Studio, and the Python chart built from that same result.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3520440" cy="37033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2743200"/>
            <a:ext cx="777240" cy="77724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374904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68680" y="416052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457200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queried directly from the Northwind database using T-SQL — joins, GROUP BY, and aggregate functions shape each question.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087368" y="4000500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B7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389120" y="2423160"/>
            <a:ext cx="3520440" cy="37033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09160" y="274320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09160" y="27432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09160" y="374904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709160" y="416052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SSMS Output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09160" y="457200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query's raw result grid is captured straight from SQL Server Management Studio as proof of the real output.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927848" y="4000500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B7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8229600" y="2423160"/>
            <a:ext cx="3520440" cy="37033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549640" y="274320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549640" y="27432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549640" y="374904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Visualize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8549640" y="416052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Seaborn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49640" y="457200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loads the same result into a DataFrame; matplotlib/seaborn renders it as a chart chosen to fit its story.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Questions, One Database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13232" y="187452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18745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" y="17830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Product Distribution by Category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783080"/>
            <a:ext cx="534924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28232" y="187452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28232" y="187452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30568" y="17830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Average Price by Category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350008"/>
            <a:ext cx="534924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13232" y="244144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3232" y="24414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15568" y="235000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Supplier Footprint by Country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2350008"/>
            <a:ext cx="534924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428232" y="244144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28232" y="24414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30568" y="235000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Customer Base by Country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2916936"/>
            <a:ext cx="534924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13232" y="3008376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3232" y="30083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15568" y="291693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Employee Distribution by City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2916936"/>
            <a:ext cx="534924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428232" y="3008376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28232" y="30083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30568" y="291693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Low Stock Alert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3483864"/>
            <a:ext cx="534924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13232" y="3575304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13232" y="35753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15568" y="3483864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Top Suppliers by Product Range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263640" y="3483864"/>
            <a:ext cx="534924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428232" y="3575304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428232" y="35753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30568" y="3483864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Total Inventory Value by Category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48640" y="4050792"/>
            <a:ext cx="534924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13232" y="4142232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13232" y="41422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115568" y="405079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Territories per Employee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263640" y="4050792"/>
            <a:ext cx="534924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428232" y="4142232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428232" y="41422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830568" y="4050792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Top 10 Cities by Customers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548640" y="4617720"/>
            <a:ext cx="534924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13232" y="470916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713232" y="47091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115568" y="46177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Most Common Contact Titles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6263640" y="4617720"/>
            <a:ext cx="534924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428232" y="470916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428232" y="47091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830568" y="46177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Avg &amp; Max Price per Supplier</a:t>
            </a:r>
            <a:endParaRPr lang="en-US" sz="1250" dirty="0"/>
          </a:p>
        </p:txBody>
      </p:sp>
      <p:sp>
        <p:nvSpPr>
          <p:cNvPr id="52" name="Shape 50"/>
          <p:cNvSpPr/>
          <p:nvPr/>
        </p:nvSpPr>
        <p:spPr>
          <a:xfrm>
            <a:off x="548640" y="5184648"/>
            <a:ext cx="534924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713232" y="527608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13232" y="52760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1115568" y="518464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Territories by Region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6263640" y="5184648"/>
            <a:ext cx="534924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6428232" y="527608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428232" y="52760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830568" y="5184648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Premium Products (Above Category Avg.)</a:t>
            </a:r>
            <a:endParaRPr lang="en-US" sz="1250" dirty="0"/>
          </a:p>
        </p:txBody>
      </p:sp>
      <p:sp>
        <p:nvSpPr>
          <p:cNvPr id="60" name="Shape 58"/>
          <p:cNvSpPr/>
          <p:nvPr/>
        </p:nvSpPr>
        <p:spPr>
          <a:xfrm>
            <a:off x="548640" y="5751576"/>
            <a:ext cx="534924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713232" y="5843016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713232" y="58430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1115568" y="575157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Suppliers With More Than 2 Products</a:t>
            </a:r>
            <a:endParaRPr lang="en-US" sz="1250" dirty="0"/>
          </a:p>
        </p:txBody>
      </p:sp>
      <p:sp>
        <p:nvSpPr>
          <p:cNvPr id="64" name="Shape 62"/>
          <p:cNvSpPr/>
          <p:nvPr/>
        </p:nvSpPr>
        <p:spPr>
          <a:xfrm>
            <a:off x="6263640" y="5751576"/>
            <a:ext cx="5349240" cy="457200"/>
          </a:xfrm>
          <a:prstGeom prst="roundRect">
            <a:avLst>
              <a:gd name="adj" fmla="val 12000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6428232" y="5843016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428232" y="584301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830568" y="5751576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Customer Distribution by Region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Distribution by Category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246120" cy="3703320"/>
          </a:xfrm>
          <a:prstGeom prst="roundRect">
            <a:avLst>
              <a:gd name="adj" fmla="val 2254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3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2788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c.CategoryName,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COUNT(p.ProductID)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AS num_products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Categories c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Products p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p.CategoryID =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c.CategoryID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c.CategoryName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num_products DESC;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886200" y="1234440"/>
            <a:ext cx="3246120" cy="3703320"/>
          </a:xfrm>
          <a:prstGeom prst="roundRect">
            <a:avLst>
              <a:gd name="adj" fmla="val 2254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0" y="14173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OUTPUT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55364" y="1970532"/>
            <a:ext cx="2907792" cy="2505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/home/claude/assets/q1_sho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91940" y="2007108"/>
            <a:ext cx="2834640" cy="243230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0" y="464515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result grid — SSMS</a:t>
            </a:r>
            <a:endParaRPr lang="en-US" sz="950" dirty="0"/>
          </a:p>
        </p:txBody>
      </p:sp>
      <p:pic>
        <p:nvPicPr>
          <p:cNvPr id="12" name="Image 1" descr="/home/claude/assets/chart1_pie_products_category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80960" y="1257300"/>
            <a:ext cx="3657600" cy="36576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57200" y="513892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21792" y="53035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21792" y="552297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Confections leads the catalog with 13 products.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272991" y="513892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437583" y="53035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437583" y="552297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Beverages, Condiments, and Seafood are tied at 12 each.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092440" y="513892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8257032" y="53035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8257032" y="552297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is the smallest category with just 5 products.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Price by Category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246120" cy="3703320"/>
          </a:xfrm>
          <a:prstGeom prst="roundRect">
            <a:avLst>
              <a:gd name="adj" fmla="val 2254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3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2788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c.CategoryName,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AVG(p.UnitPrice)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AS avg_price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Categories c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Products p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p.CategoryID =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c.CategoryID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c.CategoryName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avg_price DESC;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886200" y="1234440"/>
            <a:ext cx="3246120" cy="3703320"/>
          </a:xfrm>
          <a:prstGeom prst="roundRect">
            <a:avLst>
              <a:gd name="adj" fmla="val 2254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0" y="14173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OUTPUT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55364" y="1970532"/>
            <a:ext cx="2907792" cy="2505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/home/claude/assets/q2_sho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91940" y="2007108"/>
            <a:ext cx="2834640" cy="243230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0" y="464515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result grid — SSMS</a:t>
            </a:r>
            <a:endParaRPr lang="en-US" sz="950" dirty="0"/>
          </a:p>
        </p:txBody>
      </p:sp>
      <p:pic>
        <p:nvPicPr>
          <p:cNvPr id="12" name="Image 1" descr="/home/claude/assets/chart2_avg_price_per_category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80960" y="1257300"/>
            <a:ext cx="3657600" cy="36576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57200" y="513892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21792" y="53035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21792" y="552297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Meat/Poultry is priciest at $54.01 on average, despite having the fewest products.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272991" y="513892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437583" y="53035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437583" y="552297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Beverages ($37.98) and Produce ($32.37) round out the premium tier.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092440" y="513892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8257032" y="53035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8257032" y="552297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Grains/Cereals is the most affordable category at $20.25.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Supplier Footprint by Country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246120" cy="3703320"/>
          </a:xfrm>
          <a:prstGeom prst="roundRect">
            <a:avLst>
              <a:gd name="adj" fmla="val 2254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3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2788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Country,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COUNT(SupplierID)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AS num_suppliers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Suppliers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Country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num_suppliers DESC;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886200" y="1234440"/>
            <a:ext cx="3246120" cy="3703320"/>
          </a:xfrm>
          <a:prstGeom prst="roundRect">
            <a:avLst>
              <a:gd name="adj" fmla="val 2254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0" y="14173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OUTPUT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55364" y="1970532"/>
            <a:ext cx="2907792" cy="2505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/home/claude/assets/q3_sho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91940" y="2007108"/>
            <a:ext cx="2834640" cy="243230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0" y="464515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result grid — SSMS</a:t>
            </a:r>
            <a:endParaRPr lang="en-US" sz="950" dirty="0"/>
          </a:p>
        </p:txBody>
      </p:sp>
      <p:pic>
        <p:nvPicPr>
          <p:cNvPr id="12" name="Image 1" descr="/home/claude/assets/chart3_suppliers_per_country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80960" y="1257300"/>
            <a:ext cx="3657600" cy="36576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57200" y="513892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21792" y="53035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21792" y="552297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 are sourced from 16 different countries.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272991" y="513892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437583" y="53035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437583" y="552297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USA leads with 4 suppliers, followed by France and Germany with 3 each.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092440" y="513892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8257032" y="53035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8257032" y="552297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countries contribute exactly one supplier.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Base by Country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246120" cy="3703320"/>
          </a:xfrm>
          <a:prstGeom prst="roundRect">
            <a:avLst>
              <a:gd name="adj" fmla="val 2254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3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2788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Country,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COUNT(CustomerID)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AS num_customers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Country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num_customers DESC;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886200" y="1234440"/>
            <a:ext cx="3246120" cy="3703320"/>
          </a:xfrm>
          <a:prstGeom prst="roundRect">
            <a:avLst>
              <a:gd name="adj" fmla="val 2254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0" y="14173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OUTPUT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55364" y="1970532"/>
            <a:ext cx="2907792" cy="2505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/home/claude/assets/q4_sho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91940" y="2007108"/>
            <a:ext cx="2834640" cy="243230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0" y="464515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result grid — SSMS</a:t>
            </a:r>
            <a:endParaRPr lang="en-US" sz="950" dirty="0"/>
          </a:p>
        </p:txBody>
      </p:sp>
      <p:pic>
        <p:nvPicPr>
          <p:cNvPr id="12" name="Image 1" descr="/home/claude/assets/chart4_customers_per_country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80960" y="1257300"/>
            <a:ext cx="3657600" cy="36576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57200" y="513892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21792" y="53035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21792" y="552297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(13), France (11), and Germany (11) form the core customer base.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272991" y="513892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437583" y="53035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437583" y="552297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 (9) is the strongest market outside Europe/North America.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092440" y="513892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8257032" y="53035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8257032" y="552297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markets are long-tail, mostly 1-5 customers each.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Distribution by City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246120" cy="3703320"/>
          </a:xfrm>
          <a:prstGeom prst="roundRect">
            <a:avLst>
              <a:gd name="adj" fmla="val 2254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3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2788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City,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Country,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COUNT(EmployeeID)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AS num_employees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City, Country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num_employees DESC;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886200" y="1234440"/>
            <a:ext cx="3246120" cy="3703320"/>
          </a:xfrm>
          <a:prstGeom prst="roundRect">
            <a:avLst>
              <a:gd name="adj" fmla="val 2254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0" y="14173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OUTPUT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55364" y="1970532"/>
            <a:ext cx="2907792" cy="2505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/home/claude/assets/q5_sho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91940" y="2007108"/>
            <a:ext cx="2834640" cy="243230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0" y="464515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result grid — SSMS</a:t>
            </a:r>
            <a:endParaRPr lang="en-US" sz="950" dirty="0"/>
          </a:p>
        </p:txBody>
      </p:sp>
      <p:pic>
        <p:nvPicPr>
          <p:cNvPr id="12" name="Image 1" descr="/home/claude/assets/chart5_employees_per_city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80960" y="1257300"/>
            <a:ext cx="3657600" cy="36576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57200" y="513892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21792" y="53035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21792" y="552297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is the clear operational hub with 5 employees.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272991" y="513892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437583" y="53035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437583" y="552297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U.S. offices each run lean with a single employee.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092440" y="513892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8257032" y="53035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8257032" y="552297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is heavily centralized in one location.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Stock Alert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246120" cy="3703320"/>
          </a:xfrm>
          <a:prstGeom prst="roundRect">
            <a:avLst>
              <a:gd name="adj" fmla="val 2254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3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2788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ProductName,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UnitsInStock,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UnitsOnOrder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Products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UnitsInStock &lt; 10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UnitsInStock ASC;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886200" y="1234440"/>
            <a:ext cx="3246120" cy="3703320"/>
          </a:xfrm>
          <a:prstGeom prst="roundRect">
            <a:avLst>
              <a:gd name="adj" fmla="val 2254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0" y="14173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OUTPUT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55364" y="1970532"/>
            <a:ext cx="2907792" cy="2505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/home/claude/assets/q6_sho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91940" y="2007108"/>
            <a:ext cx="2834640" cy="243230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0" y="464515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result grid — SSMS</a:t>
            </a:r>
            <a:endParaRPr lang="en-US" sz="950" dirty="0"/>
          </a:p>
        </p:txBody>
      </p:sp>
      <p:pic>
        <p:nvPicPr>
          <p:cNvPr id="12" name="Image 1" descr="/home/claude/assets/chart6_low_stock_product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80960" y="1257300"/>
            <a:ext cx="3657600" cy="36576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57200" y="513892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21792" y="53035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21792" y="552297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products are completely out of stock.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272991" y="513892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437583" y="53035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437583" y="552297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Gorgonzola Telino has replenishment on order (70 units).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092440" y="513892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8257032" y="53035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8257032" y="552297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products sit under the 10-unit threshold.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Suppliers by Product Range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246120" cy="3703320"/>
          </a:xfrm>
          <a:prstGeom prst="roundRect">
            <a:avLst>
              <a:gd name="adj" fmla="val 2254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3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2788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s.CompanyName,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s.Country,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COUNT(p.ProductID)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AS num_products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Suppliers 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Products p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p.SupplierID =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s.SupplierID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s.CompanyName,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s.Country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num_products DESC;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886200" y="1234440"/>
            <a:ext cx="3246120" cy="3703320"/>
          </a:xfrm>
          <a:prstGeom prst="roundRect">
            <a:avLst>
              <a:gd name="adj" fmla="val 2254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0" y="14173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OUTPUT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55364" y="1970532"/>
            <a:ext cx="2907792" cy="2505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/home/claude/assets/q7_sho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91940" y="2007108"/>
            <a:ext cx="2834640" cy="243230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0" y="464515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result grid — SSMS</a:t>
            </a:r>
            <a:endParaRPr lang="en-US" sz="950" dirty="0"/>
          </a:p>
        </p:txBody>
      </p:sp>
      <p:pic>
        <p:nvPicPr>
          <p:cNvPr id="12" name="Image 1" descr="/home/claude/assets/chart7_heatmap_supplier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80960" y="1257300"/>
            <a:ext cx="3657600" cy="36576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57200" y="513892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21792" y="53035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21792" y="552297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Pavlova, Ltd. and Plutzer Lebensmittelgroßmärkte AG lead with 5 products each.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272991" y="513892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437583" y="53035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437583" y="552297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top suppliers cluster around 3-4 products.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092440" y="513892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8257032" y="53035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8257032" y="552297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supplier base is diversified — no single point of dependency.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Inventory Value by Category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246120" cy="3703320"/>
          </a:xfrm>
          <a:prstGeom prst="roundRect">
            <a:avLst>
              <a:gd name="adj" fmla="val 2254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3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2788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c.CategoryName,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SUM(p.UnitsInStock *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p.UnitPrice)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AS total_inventory_value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Categories c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Products p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p.CategoryID =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c.CategoryID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c.CategoryName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total_inventory_value DESC;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886200" y="1234440"/>
            <a:ext cx="3246120" cy="3703320"/>
          </a:xfrm>
          <a:prstGeom prst="roundRect">
            <a:avLst>
              <a:gd name="adj" fmla="val 2254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0" y="14173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OUTPUT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55364" y="1970532"/>
            <a:ext cx="2907792" cy="2505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/home/claude/assets/q8_sho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91940" y="2007108"/>
            <a:ext cx="2834640" cy="243230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0" y="464515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result grid — SSMS</a:t>
            </a:r>
            <a:endParaRPr lang="en-US" sz="950" dirty="0"/>
          </a:p>
        </p:txBody>
      </p:sp>
      <p:pic>
        <p:nvPicPr>
          <p:cNvPr id="12" name="Image 1" descr="/home/claude/assets/chart8_inventory_valu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80960" y="1257300"/>
            <a:ext cx="3657600" cy="36576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57200" y="513892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21792" y="53035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21792" y="552297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Seafood holds the highest inventory value at $13,010.35.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272991" y="513892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437583" y="53035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437583" y="552297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Beverages and Condiments follow closely, both above $12,000.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092440" y="513892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8257032" y="53035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8257032" y="552297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carries the lowest tied-up value at just $3,549.35.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09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Territories per Employee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246120" cy="3703320"/>
          </a:xfrm>
          <a:prstGeom prst="roundRect">
            <a:avLst>
              <a:gd name="adj" fmla="val 2254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3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2788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e.FirstName,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e.LastName,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COUNT(et.TerritoryID)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AS num_territories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Employees e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EmployeeTerritories et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et.EmployeeID =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e.EmployeeID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e.FirstName,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e.LastName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num_territories DESC;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886200" y="1234440"/>
            <a:ext cx="3246120" cy="3703320"/>
          </a:xfrm>
          <a:prstGeom prst="roundRect">
            <a:avLst>
              <a:gd name="adj" fmla="val 2254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0" y="14173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OUTPUT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55364" y="1970532"/>
            <a:ext cx="2907792" cy="2505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/home/claude/assets/q10_sho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91940" y="2007108"/>
            <a:ext cx="2834640" cy="243230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0" y="464515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result grid — SSMS</a:t>
            </a:r>
            <a:endParaRPr lang="en-US" sz="950" dirty="0"/>
          </a:p>
        </p:txBody>
      </p:sp>
      <p:pic>
        <p:nvPicPr>
          <p:cNvPr id="12" name="Image 1" descr="/home/claude/assets/chart10_territorie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80960" y="1257300"/>
            <a:ext cx="3657600" cy="36576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57200" y="513892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21792" y="53035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21792" y="552297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 King covers the most territories, with 10 assigned.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272991" y="513892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437583" y="53035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437583" y="552297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Steven Buchanan, Anne Dodsworth, and Andrew Fuller each cover 7.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092440" y="513892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8257032" y="53035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8257032" y="552297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Nancy Davolio has the lightest load, with only 2 territories.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10 Cities by Customers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246120" cy="3703320"/>
          </a:xfrm>
          <a:prstGeom prst="roundRect">
            <a:avLst>
              <a:gd name="adj" fmla="val 2254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3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2788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TOP 10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City, Country,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COUNT(CustomerID)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AS num_customers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City, Country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num_customers DESC;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886200" y="1234440"/>
            <a:ext cx="3246120" cy="3703320"/>
          </a:xfrm>
          <a:prstGeom prst="roundRect">
            <a:avLst>
              <a:gd name="adj" fmla="val 2254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0" y="14173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OUTPUT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55364" y="1970532"/>
            <a:ext cx="2907792" cy="2505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/home/claude/assets/q11_sho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91940" y="2007108"/>
            <a:ext cx="2834640" cy="243230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0" y="464515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result grid — SSMS</a:t>
            </a:r>
            <a:endParaRPr lang="en-US" sz="950" dirty="0"/>
          </a:p>
        </p:txBody>
      </p:sp>
      <p:pic>
        <p:nvPicPr>
          <p:cNvPr id="12" name="Image 1" descr="/home/claude/assets/chart11_top_citie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80960" y="1257300"/>
            <a:ext cx="3657600" cy="36576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57200" y="513892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21792" y="53035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21792" y="552297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tops the list with 6 customers.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272991" y="513892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437583" y="53035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437583" y="552297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Mexico City follows with 5, ahead of Sao Paulo's 4.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092440" y="513892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8257032" y="53035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8257032" y="552297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cities are tied at 2-3 customers, spanning Latin America and Europe.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Common Contact Titles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246120" cy="3703320"/>
          </a:xfrm>
          <a:prstGeom prst="roundRect">
            <a:avLst>
              <a:gd name="adj" fmla="val 2254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3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2788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ContactTitle,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COUNT(CustomerID)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AS num_customers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ContactTitle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IS NOT NULL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ContactTitle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num_customers DESC;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886200" y="1234440"/>
            <a:ext cx="3246120" cy="3703320"/>
          </a:xfrm>
          <a:prstGeom prst="roundRect">
            <a:avLst>
              <a:gd name="adj" fmla="val 2254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0" y="14173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OUTPUT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55364" y="1970532"/>
            <a:ext cx="2907792" cy="2505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/home/claude/assets/q14_sho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91940" y="2007108"/>
            <a:ext cx="2834640" cy="243230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0" y="464515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result grid — SSMS</a:t>
            </a:r>
            <a:endParaRPr lang="en-US" sz="950" dirty="0"/>
          </a:p>
        </p:txBody>
      </p:sp>
      <p:pic>
        <p:nvPicPr>
          <p:cNvPr id="12" name="Image 1" descr="/home/claude/assets/chart14_contact_titles_lollipop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80960" y="1257300"/>
            <a:ext cx="3657600" cy="36576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57200" y="513892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21792" y="53035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21792" y="552297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"Owner" and "Sales Representative" are tied as the most common titles, 17 each.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272991" y="513892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437583" y="53035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437583" y="552297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Manager (12) and Sales Manager (11) are the next most frequent.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092440" y="513892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8257032" y="53035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8257032" y="552297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niche titles, like Owner/Marketing Assistant, appear only once.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 &amp; Max Price per Supplier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246120" cy="3703320"/>
          </a:xfrm>
          <a:prstGeom prst="roundRect">
            <a:avLst>
              <a:gd name="adj" fmla="val 2254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3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2788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s.CompanyName,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AVG(p.UnitPrice)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AS avg_price,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MAX(p.UnitPrice)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AS max_price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Suppliers 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Products p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p.SupplierID =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s.SupplierID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s.CompanyName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avg_price DESC;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886200" y="1234440"/>
            <a:ext cx="3246120" cy="3703320"/>
          </a:xfrm>
          <a:prstGeom prst="roundRect">
            <a:avLst>
              <a:gd name="adj" fmla="val 2254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0" y="14173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OUTPUT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55364" y="1970532"/>
            <a:ext cx="2907792" cy="2505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/home/claude/assets/q15_sho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91940" y="2007108"/>
            <a:ext cx="2834640" cy="243230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0" y="464515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result grid — SSMS</a:t>
            </a:r>
            <a:endParaRPr lang="en-US" sz="950" dirty="0"/>
          </a:p>
        </p:txBody>
      </p:sp>
      <p:pic>
        <p:nvPicPr>
          <p:cNvPr id="12" name="Image 1" descr="/home/claude/assets/chart15_supplier_pricing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80960" y="1257300"/>
            <a:ext cx="3657600" cy="36576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57200" y="513892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21792" y="53035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21792" y="552297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 joyeux ecclésiastiques has by far the highest average price, at $140.75.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272991" y="513892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437583" y="53035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437583" y="552297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Côte de Blaye also sets the ceiling — $263.50, the highest price in the catalog.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092440" y="513892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8257032" y="53035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8257032" y="552297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top-10 suppliers average between $28 and $46.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Territories by Region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246120" cy="3703320"/>
          </a:xfrm>
          <a:prstGeom prst="roundRect">
            <a:avLst>
              <a:gd name="adj" fmla="val 2254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3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2788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r.RegionDescription,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COUNT(t.TerritoryID)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AS num_territories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Region r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Territories t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t.RegionID =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r.RegionID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r.RegionDescription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num_territories DESC;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886200" y="1234440"/>
            <a:ext cx="3246120" cy="3703320"/>
          </a:xfrm>
          <a:prstGeom prst="roundRect">
            <a:avLst>
              <a:gd name="adj" fmla="val 2254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0" y="14173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OUTPUT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55364" y="1970532"/>
            <a:ext cx="2907792" cy="2505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/home/claude/assets/q16_sho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91940" y="2007108"/>
            <a:ext cx="2834640" cy="243230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0" y="464515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result grid — SSMS</a:t>
            </a:r>
            <a:endParaRPr lang="en-US" sz="950" dirty="0"/>
          </a:p>
        </p:txBody>
      </p:sp>
      <p:pic>
        <p:nvPicPr>
          <p:cNvPr id="12" name="Image 1" descr="/home/claude/assets/chart16_territories_regio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80960" y="1257300"/>
            <a:ext cx="3657600" cy="36576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57200" y="513892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21792" y="53035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21792" y="552297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Eastern region covers the most territories, with 19.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272991" y="513892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437583" y="53035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437583" y="552297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(15) and Northern (11) follow behind.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092440" y="513892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8257032" y="53035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8257032" y="552297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Southern is the smallest region, with 8 territories.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Products (Above Category Avg.)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246120" cy="3703320"/>
          </a:xfrm>
          <a:prstGeom prst="roundRect">
            <a:avLst>
              <a:gd name="adj" fmla="val 2254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3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2788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p.ProductName,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c.CategoryName,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p.UnitPrice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Products p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Categories c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c.CategoryID =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p.CategoryID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p.UnitPrice &gt;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(SELECT AVG(p2.UnitPrice)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FROM Products p2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WHERE p2.CategoryID =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p.CategoryID)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p.UnitPrice DESC;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886200" y="1234440"/>
            <a:ext cx="3246120" cy="3703320"/>
          </a:xfrm>
          <a:prstGeom prst="roundRect">
            <a:avLst>
              <a:gd name="adj" fmla="val 2254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0" y="14173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OUTPUT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55364" y="1970532"/>
            <a:ext cx="2907792" cy="2505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/home/claude/assets/q17_sho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91940" y="2007108"/>
            <a:ext cx="2834640" cy="243230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0" y="464515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result grid — SSMS</a:t>
            </a:r>
            <a:endParaRPr lang="en-US" sz="950" dirty="0"/>
          </a:p>
        </p:txBody>
      </p:sp>
      <p:pic>
        <p:nvPicPr>
          <p:cNvPr id="12" name="Image 1" descr="/home/claude/assets/chart17_premium_product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80960" y="1257300"/>
            <a:ext cx="3657600" cy="36576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57200" y="513892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21792" y="53035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21792" y="552297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products are priced above their category's average.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272991" y="513892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437583" y="53035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437583" y="552297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Côte de Blaye ($263.50) and Thüringer Rostbratwurst ($123.79) top the list.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092440" y="513892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8257032" y="53035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8257032" y="552297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premium products still fall between $15 and $50.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14 · PRICE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Products (Above Category Avg.) — Price Range View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246120" cy="3703320"/>
          </a:xfrm>
          <a:prstGeom prst="roundRect">
            <a:avLst>
              <a:gd name="adj" fmla="val 2254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3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2788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p.ProductName,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c.CategoryName,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p.UnitPrice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Products p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Categories c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c.CategoryID =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p.CategoryID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p.UnitPrice &gt;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(SELECT AVG(p2.UnitPrice)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FROM Products p2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WHERE p2.CategoryID =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p.CategoryID)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p.UnitPrice DESC;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886200" y="1234440"/>
            <a:ext cx="3246120" cy="3703320"/>
          </a:xfrm>
          <a:prstGeom prst="roundRect">
            <a:avLst>
              <a:gd name="adj" fmla="val 2254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0" y="14173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OUTPUT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55364" y="1970532"/>
            <a:ext cx="2907792" cy="2505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/home/claude/assets/q17_sho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91940" y="2007108"/>
            <a:ext cx="2834640" cy="243230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0" y="464515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result grid — SSMS</a:t>
            </a:r>
            <a:endParaRPr lang="en-US" sz="950" dirty="0"/>
          </a:p>
        </p:txBody>
      </p:sp>
      <p:pic>
        <p:nvPicPr>
          <p:cNvPr id="12" name="Image 1" descr="/home/claude/assets/chart16b_price_distributio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80960" y="1257300"/>
            <a:ext cx="3657600" cy="36576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57200" y="513892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21792" y="53035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21792" y="552297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premium products cluster in the $15-$50 range.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272991" y="513892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437583" y="53035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437583" y="552297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handful cross the $100 mark.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092440" y="513892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8257032" y="53035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8257032" y="552297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above average is common, but rarely extreme.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Suppliers With More Than 2 Products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246120" cy="3703320"/>
          </a:xfrm>
          <a:prstGeom prst="roundRect">
            <a:avLst>
              <a:gd name="adj" fmla="val 2254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3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2788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s.CompanyName,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COUNT(p.ProductID)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AS num_products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Suppliers 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Products p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p.SupplierID =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s.SupplierID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s.CompanyName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COUNT(p.ProductID) &gt; 2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num_products DESC;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886200" y="1234440"/>
            <a:ext cx="3246120" cy="3703320"/>
          </a:xfrm>
          <a:prstGeom prst="roundRect">
            <a:avLst>
              <a:gd name="adj" fmla="val 2254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0" y="14173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OUTPUT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55364" y="1970532"/>
            <a:ext cx="2907792" cy="2505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/home/claude/assets/q18_sho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91940" y="2007108"/>
            <a:ext cx="2834640" cy="243230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0" y="464515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result grid — SSMS</a:t>
            </a:r>
            <a:endParaRPr lang="en-US" sz="950" dirty="0"/>
          </a:p>
        </p:txBody>
      </p:sp>
      <p:pic>
        <p:nvPicPr>
          <p:cNvPr id="12" name="Image 1" descr="/home/claude/assets/chart18_suppliers_having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80960" y="1257300"/>
            <a:ext cx="3657600" cy="36576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57200" y="513892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21792" y="53035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21792" y="552297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suppliers offer more than two products.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272991" y="513892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437583" y="53035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437583" y="552297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Pavlova, Ltd. and Plutzer Lebensmittelgroßmärkte AG lead with 5 each.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092440" y="513892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8257032" y="53035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8257032" y="552297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suppliers are tied at exactly 3 products.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76072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Distribution by Region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246120" cy="3703320"/>
          </a:xfrm>
          <a:prstGeom prst="roundRect">
            <a:avLst>
              <a:gd name="adj" fmla="val 2254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14173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3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2788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Region,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COUNT(CustomerID)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AS num_customers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Region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IS NOT NULL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Region</a:t>
            </a:r>
            <a:endParaRPr lang="en-US" sz="10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6F3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num_customers DESC;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886200" y="1234440"/>
            <a:ext cx="3246120" cy="3703320"/>
          </a:xfrm>
          <a:prstGeom prst="roundRect">
            <a:avLst>
              <a:gd name="adj" fmla="val 2254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0" y="14173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OUTPUT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55364" y="1970532"/>
            <a:ext cx="2907792" cy="2505456"/>
          </a:xfrm>
          <a:prstGeom prst="rect">
            <a:avLst/>
          </a:prstGeom>
          <a:solidFill>
            <a:srgbClr val="FFFFFF"/>
          </a:solidFill>
          <a:ln w="12700">
            <a:solidFill>
              <a:srgbClr val="C9D2E0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/home/claude/assets/q19_sho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091940" y="2007108"/>
            <a:ext cx="2834640" cy="243230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114800" y="4645152"/>
            <a:ext cx="2788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result grid — SSMS</a:t>
            </a:r>
            <a:endParaRPr lang="en-US" sz="950" dirty="0"/>
          </a:p>
        </p:txBody>
      </p:sp>
      <p:pic>
        <p:nvPicPr>
          <p:cNvPr id="12" name="Image 1" descr="/home/claude/assets/chart19_customers_by_regio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80960" y="1257300"/>
            <a:ext cx="3657600" cy="36576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57200" y="513892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21792" y="53035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621792" y="552297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 (SP) leads with 6 customers.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272991" y="513892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437583" y="53035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4437583" y="552297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Oregon (OR) follows with 4, then Rio de Janeiro and Washington with 3 each.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092440" y="5138928"/>
            <a:ext cx="3611880" cy="1234440"/>
          </a:xfrm>
          <a:prstGeom prst="roundRect">
            <a:avLst>
              <a:gd name="adj" fmla="val 5926"/>
            </a:avLst>
          </a:prstGeom>
          <a:solidFill>
            <a:srgbClr val="F7F9FB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8257032" y="5303520"/>
            <a:ext cx="146304" cy="14630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8257032" y="5522976"/>
            <a:ext cx="328269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remaining 14 regions each contribute a single customer.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75520" y="4389120"/>
            <a:ext cx="3657600" cy="36576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Tells Us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98755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▸"/>
            </a:pPr>
            <a:r>
              <a:rPr lang="en-US" sz="1600" dirty="0">
                <a:solidFill>
                  <a:srgbClr val="9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broad, diversified product catalog across 8 categories, from Confections to Produce.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▸"/>
            </a:pPr>
            <a:r>
              <a:rPr lang="en-US" sz="1600" dirty="0">
                <a:solidFill>
                  <a:srgbClr val="9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Meat/Poultry and Beverages command premium pricing; Grains/Cereals is the value tier.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▸"/>
            </a:pPr>
            <a:r>
              <a:rPr lang="en-US" sz="1600" dirty="0">
                <a:solidFill>
                  <a:srgbClr val="9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genuinely global footprint — 16 supplier countries and 21 customer countries.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▸"/>
            </a:pPr>
            <a:r>
              <a:rPr lang="en-US" sz="1600" dirty="0">
                <a:solidFill>
                  <a:srgbClr val="9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are centralized in London, with lean satellite offices across the U.S.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1600"/>
              </a:spcAft>
              <a:buSzPct val="100000"/>
              <a:buChar char="▸"/>
            </a:pPr>
            <a:r>
              <a:rPr lang="en-US" sz="1600" dirty="0">
                <a:solidFill>
                  <a:srgbClr val="9F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products need urgent restocking, and 27 are priced above their category average — two concrete, actionable findings.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612648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SQL Server  +  Python (pandas, matplotlib, seaborn)  —  every result verified against live SQL Server output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2067</Words>
  <Application>Microsoft Office PowerPoint</Application>
  <PresentationFormat>Widescreen</PresentationFormat>
  <Paragraphs>383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عمر ابراهيم محمد كامل بسيونى محمد</cp:lastModifiedBy>
  <cp:revision>2</cp:revision>
  <dcterms:created xsi:type="dcterms:W3CDTF">2026-07-14T00:42:58Z</dcterms:created>
  <dcterms:modified xsi:type="dcterms:W3CDTF">2026-07-14T00:46:14Z</dcterms:modified>
</cp:coreProperties>
</file>